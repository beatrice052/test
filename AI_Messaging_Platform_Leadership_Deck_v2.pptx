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8580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543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企业级AI产品蓝图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Messaging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Lifecycle Platform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6126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BFF"/>
                </a:solidFill>
              </a:rPr>
              <a:t>把银行信息发送从“人工协调流程”升级为“AI驱动、规则控制、证据闭环”的企业平台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40690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132B46"/>
          </a:solidFill>
          <a:ln w="12700">
            <a:solidFill>
              <a:srgbClr val="2549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更快需求落地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40690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132B46"/>
          </a:solidFill>
          <a:ln w="12700">
            <a:solidFill>
              <a:srgbClr val="2549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更少IT往返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40690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132B46"/>
          </a:solidFill>
          <a:ln w="12700">
            <a:solidFill>
              <a:srgbClr val="2549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更强合规审计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43800" y="118872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领导应关注的不是“有多少个Agent”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2148840"/>
            <a:ext cx="28346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而是：它是否能把需求、内容、模板、测试证据、发布和生产数据连成一个可度量的闭环。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52044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5890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 Case 生命周期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55480" y="3520440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35890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Control Plane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18120" y="4041648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41102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Evidence闭环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70848" y="40416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16568" y="41102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Memory学习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产品定位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从“流程自动化”升级为“Messaging Operating Platform”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现在的问题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需求靠反复沟通，字段难填、模板靠经验、测试靠截图、上线后数据不反哺。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9184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E7F7F5"/>
          </a:solidFill>
          <a:ln w="12700">
            <a:solidFill>
              <a:srgbClr val="BFEC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产品目标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931920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让业务自助创建，IT审核AI整理包，合规重点看风险，QA复核证据，生产数据驱动优化。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132588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53619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业务需求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1664208"/>
            <a:ext cx="237744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0" y="132588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53619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18704" y="1664208"/>
            <a:ext cx="237744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0" y="132588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53619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73184" y="1664208"/>
            <a:ext cx="237744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132588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153619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2004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41071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AC/Test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64224" y="3538728"/>
            <a:ext cx="237744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32004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41071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18704" y="3538728"/>
            <a:ext cx="237744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29600" y="32004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41071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73184" y="3538728"/>
            <a:ext cx="237744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784080" y="32004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0" y="341071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09760" y="1920240"/>
            <a:ext cx="0" cy="96012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9760" y="2880360"/>
            <a:ext cx="-4389120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09760" y="2880360"/>
            <a:ext cx="-4389120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120640" y="5120640"/>
            <a:ext cx="5989320" cy="640080"/>
          </a:xfrm>
          <a:prstGeom prst="roundRect">
            <a:avLst>
              <a:gd name="adj" fmla="val 11429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5330952"/>
            <a:ext cx="5577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核心产品定义：Messaging业务平台 + AI Agent平台 + Workflow/Rule/Governance底座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功能总览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产品能力地图：六个业务工作台 + 一个AI控制平面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34440"/>
            <a:ext cx="109728" cy="12344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Studio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2606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AI引导需求 / 字段预填 / Routing模拟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234440"/>
            <a:ext cx="10972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Studio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856232"/>
            <a:ext cx="2606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Pack / 多语言多渠道内容 / Block版本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21040" y="12344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234440"/>
            <a:ext cx="109728" cy="1234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Studio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1856232"/>
            <a:ext cx="2606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历史模板 / 组件库 / AI Layout Plan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63240"/>
            <a:ext cx="10972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&amp; Test Hub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685032"/>
            <a:ext cx="2606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AC生成 / 覆盖矩阵 / Evidence Bundle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26280" y="30632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3063240"/>
            <a:ext cx="10972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Center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3685032"/>
            <a:ext cx="2606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 / UAT / 回滚包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21040" y="30632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3063240"/>
            <a:ext cx="10972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&amp; Review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41080" y="3685032"/>
            <a:ext cx="2606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发送监控 / 异常分析 / 成本优化 / 下线建议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51560" y="516636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5880" y="5449824"/>
            <a:ext cx="9509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Control Plane：Agent Registry · Prompt Registry · Model Gateway · Tool Registry · Memory · Evaluation · Observability · Kill Switch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AI亮点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最有领导吸引力的亮点：AI不是聊天，而是“闭环智能”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411480" cy="41148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527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17043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会理解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1188720"/>
            <a:ext cx="5349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一句业务需求 → 结构化Use Case字段 + 置信度 + 证据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128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213055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会追问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5349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每轮只问1–3个高价值问题，优先解决阻塞和冲突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1089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729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09067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会复用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108960"/>
            <a:ext cx="5349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记住用户/团队常用Channel、Template、AC，推荐但不越权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069080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33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405079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会验证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4069080"/>
            <a:ext cx="5349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AC自动转Test Case，AI基于截图+日志+payload判断证据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502920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093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501091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会优化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06040" y="5029200"/>
            <a:ext cx="5349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上线后监控失败率、fallback、成本，提出下线/优化建议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2971800" cy="3611880"/>
          </a:xfrm>
          <a:prstGeom prst="roundRect">
            <a:avLst>
              <a:gd name="adj" fmla="val 2462"/>
            </a:avLst>
          </a:prstGeom>
          <a:solidFill>
            <a:srgbClr val="EFF6FF"/>
          </a:solidFill>
          <a:ln w="12700">
            <a:solidFill>
              <a:srgbClr val="BED7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22208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核心差异化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22208" y="2176272"/>
            <a:ext cx="23317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传统系统只记录流程；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这个平台把流程中的反馈变成 Memory、评测集和优化建议，让AI越用越贴近部门实际做法。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796528" y="3977640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42248" y="40462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智能但可控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Memory设计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Memory设计：个性化、团队经验、Case历史和企业知识严格分层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1499616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13990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35608" y="1709928"/>
            <a:ext cx="2057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当前对话/任务状态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35608" y="19842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任务完成后过期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499616"/>
            <a:ext cx="457200" cy="45720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3990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Preference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84648" y="1709928"/>
            <a:ext cx="2057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常用语言、渠道、模板、AC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84648" y="19842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用户可见可删除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123444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8472" y="149961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33688" y="13990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Pattern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33688" y="1709928"/>
            <a:ext cx="2057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团队常用做法、常见Reject原因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33688" y="19842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管理员确认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283464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0392" y="309981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35608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Memory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35608" y="3310128"/>
            <a:ext cx="2057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某Use Case决策、审批、测试、事故历史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35608" y="35844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按权限可见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283464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3099816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Knowledge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84648" y="3310128"/>
            <a:ext cx="2057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正式政策、规则、品牌规范、AC标准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84648" y="35844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Owner审批版本化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83880" y="283464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8472" y="3099816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33688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Store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33688" y="3310128"/>
            <a:ext cx="2057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AI输出、人工修改、测试/生产结果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33688" y="35844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用于离线评测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05840" y="480060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5093208"/>
            <a:ext cx="9464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关键原则：Memory只能用于推荐、预填、解释和评测；不能覆盖企业规则，不能绕过审批，不能沉淀客户PII。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AI架构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Agent架构：Orchestrator调度专业Agent，规则和工作流掌握最终控制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3108960"/>
            <a:ext cx="1920240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3108960"/>
            <a:ext cx="1828800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006840" y="3108960"/>
            <a:ext cx="1234440" cy="0"/>
          </a:xfrm>
          <a:prstGeom prst="line">
            <a:avLst/>
          </a:prstGeom>
          <a:noFill/>
          <a:ln w="17780">
            <a:solidFill>
              <a:srgbClr val="1B4D8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4231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BED7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788920"/>
            <a:ext cx="1051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Event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214884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69080" y="2724912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0" y="1188720"/>
            <a:ext cx="1965960" cy="38862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35240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Agents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35240" y="1874520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9431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Intake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35240" y="2350008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24185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35240" y="2825496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8940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Template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35240" y="3300984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33695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AC/Test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35240" y="3776472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8450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5240" y="4251960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3205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195560" y="233172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E7F7F5"/>
          </a:solidFill>
          <a:ln w="12700">
            <a:solidFill>
              <a:srgbClr val="BFEC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396728" y="2834640"/>
            <a:ext cx="1005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8680" y="5257800"/>
            <a:ext cx="10561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468112"/>
            <a:ext cx="10012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底线：Agent输出Proposal；Workflow执行状态；Rule Engine检查硬约束；Human Gate处理高风险决策。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技术架构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目标技术架构：业务运行平面与AI控制平面分离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051560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051560"/>
            <a:ext cx="137160" cy="566928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197864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Layer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11880" y="1197864"/>
            <a:ext cx="7452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Portal · Reviewer Workbench · Ops Dashboard · Admin Console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828800"/>
            <a:ext cx="137160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75104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&amp; Governance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1975104"/>
            <a:ext cx="7452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· State Machine · Rule Engine · Approval · Audit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606040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606040"/>
            <a:ext cx="137160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752344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 Domain Services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11880" y="2752344"/>
            <a:ext cx="7452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· Content · Template · AC/Test · Release · Operations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383280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383280"/>
            <a:ext cx="13716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529584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Runtime Plane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11880" y="3529584"/>
            <a:ext cx="7452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 · Domain Agents · RAG · Memory · Tool Gateway · Guardrails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160520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160520"/>
            <a:ext cx="13716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306824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Control Plane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11880" y="4306824"/>
            <a:ext cx="7452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Agent/Prompt Registry · Model Gateway · Evaluation · Observability · Kill Switch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937760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937760"/>
            <a:ext cx="13716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084064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Integration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611880" y="5084064"/>
            <a:ext cx="7452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DB · Event Store · Evidence Store · Vector DB · Messaging/Vendor APIs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5897880"/>
            <a:ext cx="1001268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ED7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5998464"/>
            <a:ext cx="9372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可外包建设，但银行必须掌握：数据模型、规则、审批矩阵、Agent边界、评测集和发布Gate。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Learning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受控Learning Loop：AI越用越聪明，但不是在线自我修改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40280" y="2743200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2221992"/>
            <a:ext cx="411480" cy="41148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286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13639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记录Agent运行、用户修改、审批、测试、生产结果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201168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222199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286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27832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13639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分析失败模式：字段错、内容被改、证据误判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2743200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03520" y="201168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2221992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286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13639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提出Prompt/Rule/Knowledge/Memory改进方案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961120" y="2743200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43800" y="201168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222199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2286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08392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80960" y="313639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离线Golden Dataset + Regression + Security Tests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84080" y="201168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287000" y="2221992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87000" y="2286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48672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21240" y="3136392"/>
            <a:ext cx="1143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人工审批、灰度发布、监控、可回滚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97280" y="4800600"/>
            <a:ext cx="9921240" cy="73152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17320" y="5074920"/>
            <a:ext cx="9372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管理层关心的安全点：Agent不会自己改Prompt、不会自己改规则、不会直接上生产；所有升级都有评测、审批和回滚。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实施路线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建议MVP：先跑通一条可信闭环，再逐步扩大智能化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1508760" cy="3520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691640"/>
            <a:ext cx="411480" cy="41148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产品与架构设计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" y="2971800"/>
            <a:ext cx="1234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字段/规则/流程/Agent边界/评测标准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1508760" cy="3520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44952" y="1691640"/>
            <a:ext cx="411480" cy="41148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0904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Case闭环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42616" y="2971800"/>
            <a:ext cx="1234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Intake + IT Review + Memory基础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98264" y="1417320"/>
            <a:ext cx="1508760" cy="3520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46904" y="1691640"/>
            <a:ext cx="411480" cy="41148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62856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内容与合规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4568" y="2971800"/>
            <a:ext cx="1234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Brief + Source Pack + Compliance Precheck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300216" y="1417320"/>
            <a:ext cx="1508760" cy="3520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691640"/>
            <a:ext cx="411480" cy="41148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64808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模板与AC测试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2971800"/>
            <a:ext cx="1234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历史模板 + AC + Evidence Bundle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202168" y="1417320"/>
            <a:ext cx="1508760" cy="352044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750808" y="1691640"/>
            <a:ext cx="411480" cy="4114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50808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6676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发布与运营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48472" y="2971800"/>
            <a:ext cx="1234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 + Monitoring Dashboard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0104120" y="1417320"/>
            <a:ext cx="1508760" cy="352044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652760" y="1691640"/>
            <a:ext cx="411480" cy="4114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52760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68712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优化闭环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50424" y="2971800"/>
            <a:ext cx="1234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Score + Cost/Channel/Vendor建议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914400" y="5532120"/>
            <a:ext cx="10287000" cy="438912"/>
          </a:xfrm>
          <a:prstGeom prst="roundRect">
            <a:avLst>
              <a:gd name="adj" fmla="val 16667"/>
            </a:avLst>
          </a:prstGeom>
          <a:solidFill>
            <a:srgbClr val="E7F7F5"/>
          </a:solidFill>
          <a:ln w="12700">
            <a:solidFill>
              <a:srgbClr val="BFE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5669280"/>
            <a:ext cx="96469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MVP成功标准：业务能自助提交Use Case，IT能审核结构化包，AC能自动生成，测试证据能被AI辅助验证，Release可审计。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价值与决策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领导汇报结论：这是“降本增效 + 风险可控 + 资产沉淀”的AI产品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Messaging Lifecycle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6464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618488"/>
            <a:ext cx="502920" cy="50292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效率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929384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减少业务-IT往返，缩短需求到上线周期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618488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质量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1929384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需求、Content、Template、AC、Evidence全链路追踪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3258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5048" y="1618488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1929384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AI不越权，审批、规则、证据、版本全部可审计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297180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326440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320040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沉淀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3575304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历史UseCase、模板、AC、合规决定、事故变成企业资产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297180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26440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20040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3575304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生产数据驱动成本、渠道、Vendor和下线建议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892040"/>
            <a:ext cx="10561320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43000" y="5138928"/>
            <a:ext cx="99212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建议下一步：先批准Phase 0产品蓝图与技术验证，明确字段规则、审批矩阵、Memory政策和MVP端到端场景。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Messaging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Messaging Lifecycle Platform - Product Design</dc:title>
  <dc:subject>AI Messaging Lifecycle Platform</dc:subject>
  <dc:creator>OpenAI</dc:creator>
  <cp:lastModifiedBy>OpenAI</cp:lastModifiedBy>
  <cp:revision>1</cp:revision>
  <dcterms:created xsi:type="dcterms:W3CDTF">2026-07-07T15:28:04Z</dcterms:created>
  <dcterms:modified xsi:type="dcterms:W3CDTF">2026-07-07T15:28:04Z</dcterms:modified>
</cp:coreProperties>
</file>